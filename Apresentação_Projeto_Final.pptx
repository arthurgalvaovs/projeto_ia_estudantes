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A3B8"/>
    <a:srgbClr val="494C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8274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Apresentar dupla, </a:t>
            </a:r>
            <a:r>
              <a:rPr lang="en-US" dirty="0" err="1"/>
              <a:t>contexto</a:t>
            </a:r>
            <a:r>
              <a:rPr lang="en-US" dirty="0"/>
              <a:t> do projeto 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quem é a 'empresa' (IES), o problema central e quem vai consumir o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os 5+ KPIs definidos, suas fórmulas e relevância para o negócio.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os 2 OKRs e como cada Key Result se conecta a um KPI.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Falar sobre as etapas de transformação no Power Query e as 12+ medidas DAX criadas.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rapidamente a troca de papel no Power BI. Mostrar que cada role filtra os dados corretamente.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as principais descobertas e a frase do prof. Pedro. Perguntas abertas.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2CE60-9C42-840A-6A4E-DDD0CBB45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63EC00-1171-6B71-6DBF-EA6FB777A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24097-C738-5A42-7248-B6044E942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as principais descobertas e a frase do prof. Pedro. Perguntas abertas.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E24FB-9C06-EF60-973C-C1C9022E24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14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4A2C7F">
              <a:alpha val="30000"/>
            </a:srgbClr>
          </a:solidFill>
          <a:ln w="12700">
            <a:solidFill>
              <a:srgbClr val="4A2C7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731520" y="3474720"/>
            <a:ext cx="2926080" cy="2926080"/>
          </a:xfrm>
          <a:prstGeom prst="ellipse">
            <a:avLst/>
          </a:prstGeom>
          <a:solidFill>
            <a:srgbClr val="4A2C7F">
              <a:alpha val="20000"/>
            </a:srgbClr>
          </a:solidFill>
          <a:ln w="12700">
            <a:solidFill>
              <a:srgbClr val="4A2C7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324356"/>
            <a:ext cx="29260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— BI II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Inteligência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por Estudantes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análise de dependência, burnout e ansiedade no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acadêmico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Ferramenta: Power BI Desktop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6850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Dataset: Kaggle — AI Usage Among Students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03250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Business Intelligence II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&amp; PROBLEMA DE NEGÓCIO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49656" y="1153124"/>
            <a:ext cx="4206240" cy="3566160"/>
          </a:xfrm>
          <a:prstGeom prst="roundRect">
            <a:avLst>
              <a:gd name="adj" fmla="val 3077"/>
            </a:avLst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23976" y="13817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 do Negócio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3976" y="188464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389736" y="185721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áreas de estudo têm maior risco de burnout?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3976" y="254301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389736" y="251558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política institucional sobre IA influencia a ansiedade?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3976" y="320138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389736" y="317394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iniciantes são mais dependentes de IA?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3976" y="385974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389736" y="383231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correlação entre dependência de IA e burnout?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4846320"/>
            <a:ext cx="8412480" cy="201168"/>
          </a:xfrm>
          <a:prstGeom prst="roundRect">
            <a:avLst>
              <a:gd name="adj" fmla="val 27273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92FF172C-DC07-FF2F-2A62-2552D48D2B84}"/>
              </a:ext>
            </a:extLst>
          </p:cNvPr>
          <p:cNvSpPr/>
          <p:nvPr/>
        </p:nvSpPr>
        <p:spPr>
          <a:xfrm>
            <a:off x="188104" y="1151341"/>
            <a:ext cx="4383896" cy="3566160"/>
          </a:xfrm>
          <a:prstGeom prst="roundRect">
            <a:avLst>
              <a:gd name="adj" fmla="val 3077"/>
            </a:avLst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A2FAC7A1-1BDD-218C-9AFD-C3E10172A65B}"/>
              </a:ext>
            </a:extLst>
          </p:cNvPr>
          <p:cNvSpPr/>
          <p:nvPr/>
        </p:nvSpPr>
        <p:spPr>
          <a:xfrm>
            <a:off x="301315" y="1384731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</a:t>
            </a:r>
            <a:endParaRPr lang="en-US" sz="13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201BCFF0-608D-5B28-3972-EC32B37B6998}"/>
              </a:ext>
            </a:extLst>
          </p:cNvPr>
          <p:cNvSpPr/>
          <p:nvPr/>
        </p:nvSpPr>
        <p:spPr>
          <a:xfrm>
            <a:off x="301315" y="1686986"/>
            <a:ext cx="3923213" cy="8948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consultoria de dados foi contratada para analisar o comportamento de estudantes de múltiplas instituições de ensino superior em relação ao uso de IA. O objetivo é gerar insumos para que gestores acadêmicos tomem decisões mais embasadas sobre suas políticas de IA.</a:t>
            </a:r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5BD32199-DF31-36C6-46EB-9F055CF45F3A}"/>
              </a:ext>
            </a:extLst>
          </p:cNvPr>
          <p:cNvSpPr/>
          <p:nvPr/>
        </p:nvSpPr>
        <p:spPr>
          <a:xfrm>
            <a:off x="301315" y="259143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3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</a:rPr>
              <a:t>Problema de negócio:</a:t>
            </a:r>
            <a:endParaRPr lang="en-US" sz="1300" b="1" dirty="0">
              <a:solidFill>
                <a:srgbClr val="14B8A6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1216CE01-24CA-CFD9-2111-8B2995BA0ED8}"/>
              </a:ext>
            </a:extLst>
          </p:cNvPr>
          <p:cNvSpPr/>
          <p:nvPr/>
        </p:nvSpPr>
        <p:spPr>
          <a:xfrm>
            <a:off x="301314" y="2930269"/>
            <a:ext cx="3923213" cy="595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uso de ferramentas de IA afeta a saúde mental e o desempenho acadêmico dos estudantes, e quais perfis concentram maior risco?</a:t>
            </a:r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C44E90F4-3B6F-BF83-8F98-C6E4857A9482}"/>
              </a:ext>
            </a:extLst>
          </p:cNvPr>
          <p:cNvSpPr/>
          <p:nvPr/>
        </p:nvSpPr>
        <p:spPr>
          <a:xfrm>
            <a:off x="340504" y="3534929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3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</a:rPr>
              <a:t>Critério de sucesso</a:t>
            </a:r>
            <a:endParaRPr lang="en-US" sz="1300" b="1" dirty="0">
              <a:solidFill>
                <a:srgbClr val="14B8A6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B0FCB408-6C0C-EDAF-A9B9-D998C7703CAC}"/>
              </a:ext>
            </a:extLst>
          </p:cNvPr>
          <p:cNvSpPr/>
          <p:nvPr/>
        </p:nvSpPr>
        <p:spPr>
          <a:xfrm>
            <a:off x="340503" y="3837186"/>
            <a:ext cx="3923213" cy="595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entrega valor quando gestores conseguem identificar áreas e perfis de risco e usar esses dados para revisar ou criar políticas de uso de IA nas suas instituições.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A2C7F"/>
          </a:solidFill>
          <a:ln w="12700">
            <a:solidFill>
              <a:srgbClr val="4A2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— INDICADORES-CHAVE DE DESEMPENHO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E2451"/>
          </a:solidFill>
          <a:ln w="12700">
            <a:solidFill>
              <a:srgbClr val="2A306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38912" y="1399032"/>
            <a:ext cx="228600" cy="228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49808" y="136245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de Alunos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76479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Nº alunos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585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total da base analisada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E2451"/>
          </a:solidFill>
          <a:ln w="12700">
            <a:solidFill>
              <a:srgbClr val="2A306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364992" y="1399032"/>
            <a:ext cx="228600" cy="2286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675888" y="136245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Ansiedade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37560" y="176479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AVERAGE(Anxiety)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2585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médio de ansiedade reportado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E2451"/>
          </a:solidFill>
          <a:ln w="12700">
            <a:solidFill>
              <a:srgbClr val="2A306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291072" y="1399032"/>
            <a:ext cx="228600" cy="2286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601968" y="136245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Dependência IA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176479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AVG(Dependency)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22585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médio de dependência de IA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1089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E2451"/>
          </a:solidFill>
          <a:ln w="12700">
            <a:solidFill>
              <a:srgbClr val="2A306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38912" y="3273552"/>
            <a:ext cx="228600" cy="2286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49808" y="323697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Burnout Alto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" y="363931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COUNTROWS(Burnout_High)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41330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com risco alto de burnout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1089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E2451"/>
          </a:solidFill>
          <a:ln w="12700">
            <a:solidFill>
              <a:srgbClr val="2A306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3364992" y="3273552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3675888" y="323697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de Áreas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37560" y="363931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DISTINCTCOUNT(Área)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37560" y="41330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acadêmicas na análise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1089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E2451"/>
          </a:solidFill>
          <a:ln w="12700">
            <a:solidFill>
              <a:srgbClr val="2A306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291072" y="3273552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601968" y="323697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Porcentagem de </a:t>
            </a:r>
            <a:r>
              <a:rPr lang="en-US" sz="115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Permissividade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63640" y="363931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Proibida</a:t>
            </a:r>
            <a:r>
              <a:rPr lang="en-US" sz="13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</a:t>
            </a:r>
          </a:p>
          <a:p>
            <a:pPr marL="0" indent="0" algn="ctr">
              <a:buNone/>
            </a:pPr>
            <a:r>
              <a:rPr lang="en-US" sz="1300" b="1" dirty="0" err="1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Permitida</a:t>
            </a:r>
            <a:r>
              <a:rPr lang="en-US" sz="13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</a:t>
            </a:r>
          </a:p>
          <a:p>
            <a:pPr marL="0" indent="0" algn="ctr">
              <a:buNone/>
            </a:pPr>
            <a:r>
              <a:rPr lang="en-US" sz="1300" b="1" dirty="0" err="1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Incentivada</a:t>
            </a:r>
            <a:r>
              <a:rPr lang="en-US" sz="13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63640" y="41330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do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estabelecimento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OKRs — OBJETIVOS E RESULTADOS-CHAVE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611880"/>
          </a:xfrm>
          <a:prstGeom prst="roundRect">
            <a:avLst>
              <a:gd name="adj" fmla="val 3038"/>
            </a:avLst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Analisar</a:t>
            </a: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 impacto negativo da IA na saúde mental dos estudantes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E245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3337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KR1: Identificar áreas com Burnout alto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E245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85800" y="2807208"/>
            <a:ext cx="3337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KR2: Reduzir média de Ansiedade de alunos com IA Incentivada em 15% em 6 meses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547872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E245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5800" y="3584448"/>
            <a:ext cx="3337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KR3: Mapear perfil de dependência em 100% dos cursos até Jul/2026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1143000"/>
            <a:ext cx="4206240" cy="3611880"/>
          </a:xfrm>
          <a:prstGeom prst="roundRect">
            <a:avLst>
              <a:gd name="adj" fmla="val 3038"/>
            </a:avLst>
          </a:prstGeom>
          <a:solidFill>
            <a:srgbClr val="4A2C7F"/>
          </a:solidFill>
          <a:ln w="12700">
            <a:solidFill>
              <a:srgbClr val="4A2C7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75488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66360" y="12344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Subsidiar políticas institucionais de IA baseadas em dados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0" y="1993392"/>
            <a:ext cx="3794760" cy="658368"/>
          </a:xfrm>
          <a:prstGeom prst="roundRect">
            <a:avLst>
              <a:gd name="adj" fmla="val 11111"/>
            </a:avLst>
          </a:prstGeom>
          <a:solidFill>
            <a:srgbClr val="3A1F6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892040" y="2029968"/>
            <a:ext cx="3566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KR1: Comparar ansiedade entre 3 políticas institucionais distintas com dados estatísticos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770632"/>
            <a:ext cx="3794760" cy="658368"/>
          </a:xfrm>
          <a:prstGeom prst="roundRect">
            <a:avLst>
              <a:gd name="adj" fmla="val 11111"/>
            </a:avLst>
          </a:prstGeom>
          <a:solidFill>
            <a:srgbClr val="3A1F6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892040" y="2807208"/>
            <a:ext cx="3566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KR2: Apresentar relatório de BI à diretoria com recomendações até Set/2026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547872"/>
            <a:ext cx="3794760" cy="658368"/>
          </a:xfrm>
          <a:prstGeom prst="roundRect">
            <a:avLst>
              <a:gd name="adj" fmla="val 11111"/>
            </a:avLst>
          </a:prstGeom>
          <a:solidFill>
            <a:srgbClr val="3A1F6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892040" y="3584448"/>
            <a:ext cx="3566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KR3: Embasar revisão de política de IA em ≥ 2 cursos pilot até Dez/2026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&amp; POWER QUERY — TRANSFORMAÇÕES E MEDIDAS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06908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 (ETL)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" y="184708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49808" y="1810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correta de todas as colunas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22860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49808" y="22494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de duplicatas e nulos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272491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49808" y="26883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Renomeação em Title Case padronizado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" y="316382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49808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surrogate keys (student_id)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" y="360273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49808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Split/Merge de tabelas para star schema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404164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49808" y="4005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Medidas dedicada (MEDIDAS)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143000"/>
            <a:ext cx="4069080" cy="3657600"/>
          </a:xfrm>
          <a:prstGeom prst="roundRect">
            <a:avLst>
              <a:gd name="adj" fmla="val 3000"/>
            </a:avLst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98348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Medidas DAX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1847088"/>
            <a:ext cx="3703320" cy="841248"/>
          </a:xfrm>
          <a:prstGeom prst="roundRect">
            <a:avLst>
              <a:gd name="adj" fmla="val 8696"/>
            </a:avLst>
          </a:prstGeom>
          <a:solidFill>
            <a:srgbClr val="1E245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074920" y="18928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Básicas (5+)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2176272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Alunos · Média Ansiedade · Média Dependência · Burnout Alto · Total Áreas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2807208"/>
            <a:ext cx="3703320" cy="841248"/>
          </a:xfrm>
          <a:prstGeom prst="roundRect">
            <a:avLst>
              <a:gd name="adj" fmla="val 8696"/>
            </a:avLst>
          </a:prstGeom>
          <a:solidFill>
            <a:srgbClr val="1E245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074920" y="28529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(4+)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3136392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IA Incentivada · Ansiedade Strict Ban · Dependência Iniciantes · Delta Política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3767328"/>
            <a:ext cx="3703320" cy="841248"/>
          </a:xfrm>
          <a:prstGeom prst="roundRect">
            <a:avLst>
              <a:gd name="adj" fmla="val 8696"/>
            </a:avLst>
          </a:prstGeom>
          <a:solidFill>
            <a:srgbClr val="1E2451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8" name="Text 26"/>
          <p:cNvSpPr/>
          <p:nvPr/>
        </p:nvSpPr>
        <p:spPr>
          <a:xfrm>
            <a:off x="5074920" y="38130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Medidas</a:t>
            </a:r>
            <a:r>
              <a:rPr lang="en-US" sz="11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100" b="1" dirty="0" err="1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Adicionais</a:t>
            </a:r>
            <a:r>
              <a:rPr lang="en-US" sz="11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(3)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4920" y="4087368"/>
            <a:ext cx="34290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chemeClr val="bg1">
                    <a:lumMod val="75000"/>
                  </a:schemeClr>
                </a:solidFill>
              </a:rPr>
              <a:t>% Alta Dependência · Ansiedade Avançados · Delta Ansiedade Política</a:t>
            </a:r>
            <a:endParaRPr 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ROW-LEVEL SECURITY — CONTROLE DE ACESSO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00200" y="1197864"/>
            <a:ext cx="2651760" cy="31546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560320" y="1426464"/>
            <a:ext cx="731520" cy="731520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560320" y="142646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09928" y="2295144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Diretor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737360" y="2752344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1F3F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801368" y="277977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[TRUE]  (sem filtro)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37360" y="341071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total a todas as áreas, cursos e dados financeiros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92040" y="1193292"/>
            <a:ext cx="2651760" cy="31546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852160" y="1421892"/>
            <a:ext cx="731520" cy="731520"/>
          </a:xfrm>
          <a:prstGeom prst="ellipse">
            <a:avLst/>
          </a:prstGeom>
          <a:solidFill>
            <a:srgbClr val="6366F1">
              <a:alpha val="85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852160" y="14218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01768" y="2290572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1A1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Coordenadores</a:t>
            </a:r>
            <a:r>
              <a:rPr lang="en-US" sz="1250" b="1" dirty="0">
                <a:solidFill>
                  <a:srgbClr val="1A1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Área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0" y="2747772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1F3FB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093208" y="277520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dim_area[Major_Category] = {AREA}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34061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Enxerga apenas dados da sua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acadêmica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462272"/>
            <a:ext cx="8503920" cy="411480"/>
          </a:xfrm>
          <a:prstGeom prst="roundRect">
            <a:avLst>
              <a:gd name="adj" fmla="val 17778"/>
            </a:avLst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02920" y="4489704"/>
            <a:ext cx="8092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 com "Exibir como função" no Power BI Desktop.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4A2C7F">
              <a:alpha val="20000"/>
            </a:srgbClr>
          </a:solidFill>
          <a:ln w="12700">
            <a:solidFill>
              <a:srgbClr val="4A2C7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dados revelaram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7772400" cy="594360"/>
          </a:xfrm>
          <a:prstGeom prst="roundRect">
            <a:avLst>
              <a:gd name="adj" fmla="val 13846"/>
            </a:avLst>
          </a:prstGeom>
          <a:solidFill>
            <a:srgbClr val="1A2060"/>
          </a:solidFill>
          <a:ln w="12700">
            <a:solidFill>
              <a:srgbClr val="2A30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77393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com maior dependência de IA apresentam risco de burnout elevado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50592"/>
            <a:ext cx="7772400" cy="594360"/>
          </a:xfrm>
          <a:prstGeom prst="roundRect">
            <a:avLst>
              <a:gd name="adj" fmla="val 13846"/>
            </a:avLst>
          </a:prstGeom>
          <a:solidFill>
            <a:srgbClr val="1A2060"/>
          </a:solidFill>
          <a:ln w="12700">
            <a:solidFill>
              <a:srgbClr val="2A30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50545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mais permissivas correlacionam-se com maior nível de ansiedade nos estudantes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82112"/>
            <a:ext cx="7772400" cy="594360"/>
          </a:xfrm>
          <a:prstGeom prst="roundRect">
            <a:avLst>
              <a:gd name="adj" fmla="val 13846"/>
            </a:avLst>
          </a:prstGeom>
          <a:solidFill>
            <a:srgbClr val="1A2060"/>
          </a:solidFill>
          <a:ln w="12700">
            <a:solidFill>
              <a:srgbClr val="2A30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94360" y="3200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23697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Iniciantes exibem dependência significativamente maior que estudantes avançados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13632"/>
            <a:ext cx="7772400" cy="594360"/>
          </a:xfrm>
          <a:prstGeom prst="roundRect">
            <a:avLst>
              <a:gd name="adj" fmla="val 13846"/>
            </a:avLst>
          </a:prstGeom>
          <a:solidFill>
            <a:srgbClr val="1A2060"/>
          </a:solidFill>
          <a:ln w="12700">
            <a:solidFill>
              <a:srgbClr val="2A30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94360" y="3931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96849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institucional de IA é um fator determinante no bem-estar acadêmico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355B39-F06E-5F16-F825-69D8A65E3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306172-AFE4-D73B-9F8B-3EE6BE7B97C7}"/>
              </a:ext>
            </a:extLst>
          </p:cNvPr>
          <p:cNvSpPr/>
          <p:nvPr/>
        </p:nvSpPr>
        <p:spPr>
          <a:xfrm>
            <a:off x="4366260" y="-3291840"/>
            <a:ext cx="6621780" cy="4572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3AD3042-3F01-3C1C-BB61-E9946E01BB3B}"/>
              </a:ext>
            </a:extLst>
          </p:cNvPr>
          <p:cNvSpPr/>
          <p:nvPr/>
        </p:nvSpPr>
        <p:spPr>
          <a:xfrm>
            <a:off x="-2385060" y="2299335"/>
            <a:ext cx="3657600" cy="3657600"/>
          </a:xfrm>
          <a:prstGeom prst="ellipse">
            <a:avLst/>
          </a:prstGeom>
          <a:solidFill>
            <a:srgbClr val="4A2C7F">
              <a:alpha val="20000"/>
            </a:srgbClr>
          </a:solidFill>
          <a:ln w="12700">
            <a:solidFill>
              <a:srgbClr val="4A2C7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060D362-B1CD-576C-ACA6-1EDD6DD17259}"/>
              </a:ext>
            </a:extLst>
          </p:cNvPr>
          <p:cNvSpPr/>
          <p:nvPr/>
        </p:nvSpPr>
        <p:spPr>
          <a:xfrm>
            <a:off x="998220" y="2133600"/>
            <a:ext cx="7147560" cy="876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“Em BI, o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produto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final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não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é o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relatório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, é a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decisão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que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ele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permite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tomar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.”</a:t>
            </a: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CBC79C28-4BF6-1690-0633-C7AFF0143754}"/>
              </a:ext>
            </a:extLst>
          </p:cNvPr>
          <p:cNvSpPr/>
          <p:nvPr/>
        </p:nvSpPr>
        <p:spPr>
          <a:xfrm>
            <a:off x="6195060" y="4392930"/>
            <a:ext cx="3657600" cy="3657600"/>
          </a:xfrm>
          <a:prstGeom prst="ellipse">
            <a:avLst/>
          </a:prstGeom>
          <a:solidFill>
            <a:schemeClr val="bg1">
              <a:alpha val="20000"/>
            </a:schemeClr>
          </a:solidFill>
          <a:ln w="12700">
            <a:solidFill>
              <a:srgbClr val="4A2C7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47697C86-F54B-9CC4-9CC6-8DE63873AFD1}"/>
              </a:ext>
            </a:extLst>
          </p:cNvPr>
          <p:cNvSpPr/>
          <p:nvPr/>
        </p:nvSpPr>
        <p:spPr>
          <a:xfrm>
            <a:off x="7871460" y="2899410"/>
            <a:ext cx="3657600" cy="3657600"/>
          </a:xfrm>
          <a:prstGeom prst="ellipse">
            <a:avLst/>
          </a:prstGeom>
          <a:solidFill>
            <a:schemeClr val="bg1">
              <a:alpha val="20000"/>
            </a:schemeClr>
          </a:solidFill>
          <a:ln w="12700">
            <a:solidFill>
              <a:srgbClr val="4A2C7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13560CA5-7766-ADA4-C8B4-CAFE3C00B41F}"/>
              </a:ext>
            </a:extLst>
          </p:cNvPr>
          <p:cNvSpPr/>
          <p:nvPr/>
        </p:nvSpPr>
        <p:spPr>
          <a:xfrm>
            <a:off x="3524250" y="3009900"/>
            <a:ext cx="2095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dirty="0" err="1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Obrigado</a:t>
            </a:r>
            <a:r>
              <a:rPr lang="en-US" sz="1400" b="1" kern="0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pela </a:t>
            </a:r>
            <a:r>
              <a:rPr lang="en-US" sz="1400" b="1" kern="0" dirty="0" err="1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atenção</a:t>
            </a:r>
            <a:r>
              <a:rPr lang="en-US" sz="1400" b="1" kern="0" dirty="0">
                <a:solidFill>
                  <a:srgbClr val="14B8A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735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766</Words>
  <Application>Microsoft Office PowerPoint</Application>
  <PresentationFormat>Apresentação na tela (16:9)</PresentationFormat>
  <Paragraphs>109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em Estudantes — Business Intelligence</dc:title>
  <dc:subject>PptxGenJS Presentation</dc:subject>
  <dc:creator>PptxGenJS</dc:creator>
  <cp:lastModifiedBy>Arthur  Santos</cp:lastModifiedBy>
  <cp:revision>5</cp:revision>
  <dcterms:created xsi:type="dcterms:W3CDTF">2026-06-19T20:58:59Z</dcterms:created>
  <dcterms:modified xsi:type="dcterms:W3CDTF">2026-06-23T11:27:30Z</dcterms:modified>
</cp:coreProperties>
</file>